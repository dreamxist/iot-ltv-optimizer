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46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82880"/>
            <a:ext cx="914400" cy="914400"/>
          </a:xfrm>
          <a:prstGeom prst="ellipse">
            <a:avLst/>
          </a:prstGeom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274320" y="3474720"/>
            <a:ext cx="1371600" cy="1371600"/>
          </a:xfrm>
          <a:prstGeom prst="ellipse">
            <a:avLst/>
          </a:prstGeom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AA"/>
                </a:solidFill>
              </a:rPr>
              <a:t>Investigación en Computación Evolutiva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</a:rPr>
              <a:t>Optimización Metaheurística de Modelos de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</a:rPr>
              <a:t>Atribución Omnicanal en Entornos IoT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AA"/>
                </a:solidFill>
              </a:rPr>
              <a:t>Maximización de la Precisión del Customer Lifetime Value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AFC"/>
                </a:solidFill>
              </a:rPr>
              <a:t>Francisco Zúñiga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Ingeniería Civil Telemática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Universidad Técnica Federico Santa María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Problema de Investigación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DESAFÍO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La proliferación de touchpoints digitales y dispositivos IoT crea desafíos de atribución que los modelos tradicionales no pueden abordar.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CANALES OMNICANAL IoT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Sitios web y aplicaciones móviles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Campañas de email marketing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Beacons inteligentes y NFC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Sistemas de retail conectados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2976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LIMITACIONES ACTUALES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71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Modelos basados en reglas (first-touch, last-touch)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Métodos que asumen independencia entre canales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No capturan relaciones no lineales ni sinergias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423160"/>
            <a:ext cx="4297680" cy="1280160"/>
          </a:xfrm>
          <a:prstGeom prst="roundRect">
            <a:avLst>
              <a:gd name="adj" fmla="val 7143"/>
            </a:avLst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PREGUNTA DE INVESTIGACIÓN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FAFC"/>
                </a:solidFill>
              </a:rPr>
              <a:t>¿Puede la computación evolutiva optimizar los pesos de atribución para mejorar la precisión del CLV en entornos omnicanal IoT?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Objetivos y Contribuciones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45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11480" y="1161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Framework OmniEvo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Algoritmo genético para optimización automática de pesos de atribución omnicanal.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1148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09160" y="1161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188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Validación Experimental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Mejoras significativas sobre baselines con significancia estadística confirmada.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11480" y="23317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11480" y="2350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Análisis de Sensibilidad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Evaluación de robustez ante variaciones de hiperparámetros del algoritmo.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572000" y="2194560"/>
            <a:ext cx="41148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709160" y="23317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709160" y="2350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Insights IoT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Análisis de importancia de canales IoT para la predicción del CLV.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429000"/>
            <a:ext cx="8595360" cy="502920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Resultado Principal: 23% mejora en RMSE con p &lt; 0.001 y d de Cohen = 19.95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Estado del Arte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MODELOS CLV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Pramono et al. [4]: Clustering LRFM con Fuzzy AHP.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Limitaciones: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• Requiere juicio experto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• No se adapta a datos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• Consistencia difícil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29184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MODELOS DE ATRIBUCIÓN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Evolución desde heurísticas hasta modelos probabilísticos.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1945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Limitaciones: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• Complejidad O(2^m)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• ML sin interpretabilidad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• Asume independencia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172200" y="1097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METAHEURÍSTICAS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1417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AG aplicados a segmentación [7] y optimización de campañas.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1945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21792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Oportunidad: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Oportunidad: Aplicación a atribución poco explorada.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859536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Brecha identificada: No existen frameworks que combinen optimización evolutiva con atribución omnicanal IoT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Metodología: Formulación del Problema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DEFINICIÓN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X ∈ ℝⁿˣᵐ — Matriz de interacciones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xᵢⱼ — Intensidad cliente i, canal j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y ∈ ℝⁿ — Vector de valores CLV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w ∈ ℝᵐ — Pesos de atribución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ARQUITECTURA DE CANALES (m=8)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IoT: NFC, Beacons | App: Sessions, Wallet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Digital: Email, Web, Ads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005840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48056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PROBLEMA DE OPTIMIZACIÓN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AFC"/>
                </a:solidFill>
              </a:rPr>
              <a:t>minw RMSE(Xw, 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s.a.  Σwᵢ = 1,  wᵢ ≥ 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0175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434840" y="3108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Σwᵢ =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Pesos interpretables como proporciones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30175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812280" y="3108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wᵢ ≥ 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3337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Sin contribuciones negativas al CLV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Metodología: Algoritmo Genético OmniEvo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REPRESENTACIÓN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Vector real w = (w₁,...,wₘ) normalizado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SELECCIÓN POR TORNEO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8562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k=3, el mejor avanza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CRUZAMIENTO BLX-α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α=0.5, explora fuera del rango parental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MUTACIÓN GAUSSIANA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0449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σ=0.2, escapa óptimos locales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1005840"/>
            <a:ext cx="4937760" cy="2651760"/>
          </a:xfrm>
          <a:prstGeom prst="roundRect">
            <a:avLst>
              <a:gd name="adj" fmla="val 3448"/>
            </a:avLst>
          </a:prstGeom>
          <a:solidFill>
            <a:srgbClr val="0A1628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1148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Algoritmo OmniEvo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1417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Entrada: X, y, N=100, G=50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1600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Salida: w* (pesos óptimos)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0" y="17830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P₀ ← InicializarPoblación(N, m)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06240" y="1965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Normalizar cada w ∈ P₀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06240" y="2148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for g = 1 to G 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0" y="2331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 f(w) = -RMSE(Xw, y) ∀w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25146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 P'g ← SelecciónTorneo(k=3)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0" y="26974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 P''g ← CruzamientoBLX(pc=0.7)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0" y="2880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 Pg ← MutaciónGauss(pm=0.2)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0" y="3063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   Normalizar + Elitismo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32461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 end for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0" y="34290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 return arg max f(w)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47472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</a:rPr>
              <a:t>Framework: DEAP (Distributed Evolutionary Algorithms in Python)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Configuración Experimental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DATASET SINTÉTICO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1,000 clientes simulados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3 segmentos: alto (20%), medio (50%), bajo (30%)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8 canales con distribuciones calibradas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CLV con ruido gaussiano (σ = 10)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PROTOCOLO DE EVALUACIÓN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División train/test: 80/20 estratificada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Validación cruzada: 5-fold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Métricas: RMSE, Correlación de Pearson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892040" y="1097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PRUEBAS ESTADÍSTICAS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t-test pareado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Wilcoxon signed-rank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d de Cohen (tamaño del efecto)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MODELOS BASELINE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6517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12064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Uniforme: wᵢ = 1/m para todos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97180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512064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Last-Touch: 100% al último canal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Resultados: Comparación de Rendimiento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COMPARACIÓN DE MODELOS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663440" cy="1188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Modelo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Pearson r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Mejora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Last-Touch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45.23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0.612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-45.1%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Uniforme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31.17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0.789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AG (Propuesto)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23.99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0.874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+23.0%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78892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6"/>
          <p:cNvSpPr/>
          <p:nvPr/>
        </p:nvSpPr>
        <p:spPr>
          <a:xfrm>
            <a:off x="411480" y="28803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VALIDACIÓN CRUZADA 5-FOLD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</a:rPr>
              <a:t>23.96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3474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RMSE medio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0312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±0.33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103120" y="3474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Desv. estándar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</a:rPr>
              <a:t>0.873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657600" y="3474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Pearson 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0" y="10058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5623560" y="10972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SIGNIFICANCIA ESTADÍSTICA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23560" y="1417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t-test pareado: t = 45.32, p &lt; 0.0001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Wilcoxon: W = 0.0, p &lt; 0.0001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d de Cohen: 19.95 (efecto grande)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0" y="269748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5623560" y="2788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INTERPRETACIÓN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2356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• Hipótesis nula rechazada con alta confianza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• Mejora estadística y prácticamente relevante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• Baja varianza indica estabilidad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Resultados: Pesos de Atribución Optimizados</a:t>
            </a:r>
            <a:endParaRPr lang="en-US" sz="2400" dirty="0"/>
          </a:p>
        </p:txBody>
      </p:sp>
      <p:pic>
        <p:nvPicPr>
          <p:cNvPr id="5" name="Image 0" descr="/sessions/upbeat-trusting-einstein/mnt/IoT-LTV-Optimizer/figures/fig1_weights_ba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38912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00584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4983480" y="1097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HALLAZGO PRINCIPAL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983480" y="1325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Los canales IoT representan el 44.6% del peso total de atribución.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9659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983480" y="2057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TOP 3 PREDICTORES CLV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2331720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029200" y="23317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9496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NFC Purchases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2331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</a:rPr>
              <a:t>35.7%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0" y="2624328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5029200" y="26243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94960" y="2624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Wallet Top-up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26243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</a:rPr>
              <a:t>27.2%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0" y="2916936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5029200" y="29169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94960" y="29169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Email Opens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06640" y="291693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5CF6"/>
                </a:solidFill>
              </a:rPr>
              <a:t>22.9%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38328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983480" y="34747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INTERPRETACIÓN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98348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Touchpoints transaccionales correlacionan directamente con valor monetario del cliente.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Resultados: Análisis de Convergencia</a:t>
            </a:r>
            <a:endParaRPr lang="en-US" sz="2400" dirty="0"/>
          </a:p>
        </p:txBody>
      </p:sp>
      <p:pic>
        <p:nvPicPr>
          <p:cNvPr id="5" name="Image 0" descr="/sessions/upbeat-trusting-einstein/mnt/IoT-LTV-Optimizer/figures/fig2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0292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0058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5486400" y="1005840"/>
            <a:ext cx="54864" cy="11887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623560" y="10972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COMPORTAMIENTO EVOLUTIVO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23560" y="1371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90% mejora alcanzada en gen. 15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Convergencia completa &lt; gen. 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Estabilidad sin degradación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23317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5623560" y="24231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BALANCE EXPLORACIÓN-EXPLOTACIÓN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23560" y="26974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• BLX-α (α=0.5): Explora fuera del rango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• Mutación (σ=0.2): Escapa óptimos locales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• Elitismo: Preserva mejores soluciones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36576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623560" y="37490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</a:rPr>
              <a:t>Eficiencia: 50 generaciones → óptimo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Resultados: Distribución de Errores</a:t>
            </a:r>
            <a:endParaRPr lang="en-US" sz="2400" dirty="0"/>
          </a:p>
        </p:txBody>
      </p:sp>
      <p:pic>
        <p:nvPicPr>
          <p:cNvPr id="5" name="Image 0" descr="/sessions/upbeat-trusting-einstein/mnt/IoT-LTV-Optimizer/figures/fig3_error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5720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10058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5166360" y="10972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COMPARACIÓN VISUAL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12080" y="13716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F6B6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486400" y="1371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Last-Touch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223760" y="1371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6B6B"/>
                </a:solidFill>
              </a:rPr>
              <a:t>RMSE 44.8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16642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5C56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486400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Uniforme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23760" y="16642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C563"/>
                </a:solidFill>
              </a:rPr>
              <a:t>RMSE 31.2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12080" y="19568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6BCF8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5486400" y="19568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AG (Propuesto)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223760" y="195681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CF8E"/>
                </a:solidFill>
              </a:rPr>
              <a:t>RMSE 24.2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25146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5166360" y="2606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OBSERVACIONES CLAVE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66360" y="2834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AG muestra menor mediana y dispersión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Last-Touch presenta mayor variabilidad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Reducción consistente del error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0" y="365760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5166360" y="3749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-23% reducción RMSE vs. baseline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Conclusiones y Trabajo Futuro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846320" cy="1645920"/>
          </a:xfrm>
          <a:prstGeom prst="roundRect">
            <a:avLst>
              <a:gd name="adj" fmla="val 5556"/>
            </a:avLst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CONTRIBUCIONES PRINCIPALES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Framework OmniEvo para optimización automática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23% mejora en RMSE (p &lt; 0.0001)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Canales IoT como predictores críticos (44.6%)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Validación cruzada confirma estabilidad (std=0.33)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LIMITACIONES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Datos sintéticos requieren validación real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Modelo lineal asume contribuciones aditivas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Pesos estáticos no capturan estacionalidad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005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TRABAJO FUTURO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Validación con datasets reales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Kernels no lineales para interacciones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Ventanas temporales para dinamismo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• Extensión multi-objetivo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25146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440680" y="2606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CÓDIGO DISPONIBLE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github.com/dreamxist/IoT-LTV-Optimizer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La computación evolutiva ofrece una alternativa viable y automática a métodos basados en heurísticas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82880" y="228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Referencias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[1] Fader, P. &amp; Hardie, B. (2010). Customer-base valuation. Marketing Science, 29(1), 85-93.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[2] Verhoef, P. et al. (2015). From multi-channel to omni-channel retailing. J. of Retailing, 91(2), 174-181.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[3] Anderl, E. et al. (2016). Mapping the customer journey. Int. J. Research in Marketing, 33(3), 457-474.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[4] Pramono, P. et al. (2019). Customer segmentation using two-stage clustering. IEEE IEEM, 1-5.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[5] Li, X. &amp; Kannan, S. (2014). Attributing conversions in multichannel marketing. J. Marketing Research, 51(1).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[6] Dalessandro, N. et al. (2012). Causally motivated attribution for online advertising. ADKDD, 1-9.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[7] Ngai, E. et al. (2009). Data mining in CRM. Expert Systems with Applications, 36(2), 2592-2602.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[8] Ghose, A. &amp; Yang, S. (2009). Sponsored search in electronic markets. Management Science, 55(10).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3467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[9] Saaty, T. (2008). Decision making with AHP. Int. J. of Services Sciences, 1(1), 83-98.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AA"/>
                </a:solidFill>
              </a:rPr>
              <a:t>¡Gracias! — francisco.zunigap@usm.cl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1302</Words>
  <Application>Microsoft Macintosh PowerPoint</Application>
  <PresentationFormat>Presentación en pantalla (16:9)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OmniEvo: Optimización Metaheurística de Modelos de Atribución Omnicanal</dc:title>
  <dc:subject>Investigación en Algoritmos Genéticos para CLV</dc:subject>
  <dc:creator>Francisco Zúñiga</dc:creator>
  <cp:lastModifiedBy>Francisco Zuñiga</cp:lastModifiedBy>
  <cp:revision>2</cp:revision>
  <dcterms:created xsi:type="dcterms:W3CDTF">2026-01-20T13:00:22Z</dcterms:created>
  <dcterms:modified xsi:type="dcterms:W3CDTF">2026-01-20T13:09:54Z</dcterms:modified>
</cp:coreProperties>
</file>